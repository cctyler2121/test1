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RESILIENCE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8FD6"/>
                </a:solidFill>
                <a:latin typeface="Calibri"/>
              </a:rPr>
              <a:t>Critical Infrastructure | Business Continuity | Threat Monitoring | Asset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5E9E"/>
                </a:solidFill>
                <a:latin typeface="Calibri"/>
              </a:rPr>
              <a:t>~$150B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B8D"/>
                </a:solidFill>
                <a:latin typeface="Calibri"/>
              </a:rPr>
              <a:t>Critical Infrastructure
Protection Market (2025)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123444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5E9E"/>
                </a:solidFill>
                <a:latin typeface="Calibri"/>
              </a:rPr>
              <a:t>$2–$3B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B8D"/>
                </a:solidFill>
                <a:latin typeface="Calibri"/>
              </a:rPr>
              <a:t>Business Continuity
Management Market (2025)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5776" y="123444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5E9E"/>
                </a:solidFill>
                <a:latin typeface="Calibri"/>
              </a:rPr>
              <a:t>8–17%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B8D"/>
                </a:solidFill>
                <a:latin typeface="Calibri"/>
              </a:rPr>
              <a:t>BCM Market CAGR
(2025–2033)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24344" y="123444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5E9E"/>
                </a:solidFill>
                <a:latin typeface="Calibri"/>
              </a:rPr>
              <a:t>5.8%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784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B8D"/>
                </a:solidFill>
                <a:latin typeface="Calibri"/>
              </a:rPr>
              <a:t>Services Segment
CAGR (fastest growing)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2912" y="1234440"/>
            <a:ext cx="20116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2912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5E9E"/>
                </a:solidFill>
                <a:latin typeface="Calibri"/>
              </a:rPr>
              <a:t>$1.06T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B8D"/>
                </a:solidFill>
                <a:latin typeface="Calibri"/>
              </a:rPr>
              <a:t>Global Consulting
Market (2025)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606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D3A"/>
                </a:solidFill>
                <a:latin typeface="Calibri"/>
              </a:rPr>
              <a:t>KEY MARKET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E86C00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Regulatory Surge:</a:t>
            </a:r>
            <a:r>
              <a:rPr sz="1200" b="0">
                <a:solidFill>
                  <a:srgbClr val="1A1A2E"/>
                </a:solidFill>
                <a:latin typeface="Calibri"/>
              </a:rPr>
              <a:t>  EU DORA (live Jan 2025), NIS2 (deadline Oct 2026), CER (entity ID by Jul 2026) creating multi-framework compliance demand across all sectors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E86C00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Escalating Threat Landscape:</a:t>
            </a:r>
            <a:r>
              <a:rPr sz="1200" b="0">
                <a:solidFill>
                  <a:srgbClr val="1A1A2E"/>
                </a:solidFill>
                <a:latin typeface="Calibri"/>
              </a:rPr>
              <a:t>  State-backed threats (esp. PRC), ransomware breakout times &lt;60 min, identity-based attacks surpassing malware as primary intrusion vector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E86C00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AI Dual-Edge:</a:t>
            </a:r>
            <a:r>
              <a:rPr sz="1200" b="0">
                <a:solidFill>
                  <a:srgbClr val="1A1A2E"/>
                </a:solidFill>
                <a:latin typeface="Calibri"/>
              </a:rPr>
              <a:t>  AI accelerating both attack sophistication and defensive resilience capabilities; AI supply chain attacks emerging as a new attack surface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E86C00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Supply Chain Fragility:</a:t>
            </a:r>
            <a:r>
              <a:rPr sz="1200" b="0">
                <a:solidFill>
                  <a:srgbClr val="1A1A2E"/>
                </a:solidFill>
                <a:latin typeface="Calibri"/>
              </a:rPr>
              <a:t>  High-profile incidents (JLR, M&amp;S) exposing third-party resilience gaps; regulators mandating vendor risk management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E86C00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Digital Transformation:</a:t>
            </a:r>
            <a:r>
              <a:rPr sz="1200" b="0">
                <a:solidFill>
                  <a:srgbClr val="1A1A2E"/>
                </a:solidFill>
                <a:latin typeface="Calibri"/>
              </a:rPr>
              <a:t>  Multi-cloud resilience, zero-trust infrastructure, and real-time risk monitoring now table stakes for enterprise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1D3A"/>
                </a:solidFill>
                <a:latin typeface="Calibri"/>
              </a:rPr>
              <a:t>HIGH-DEMAND SECTORS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008A5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Financial Services:</a:t>
            </a:r>
            <a:r>
              <a:rPr sz="1200" b="0">
                <a:solidFill>
                  <a:srgbClr val="1A1A2E"/>
                </a:solidFill>
                <a:latin typeface="Calibri"/>
              </a:rPr>
              <a:t>  DORA compliance, operational resilience frameworks, third-party risk management, ICT incident reporting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008A5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Energy &amp; Utilities:</a:t>
            </a:r>
            <a:r>
              <a:rPr sz="1200" b="0">
                <a:solidFill>
                  <a:srgbClr val="1A1A2E"/>
                </a:solidFill>
                <a:latin typeface="Calibri"/>
              </a:rPr>
              <a:t>  28.9% of CIP market; grid resilience, OT security, green transition risk management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008A5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Healthcare:</a:t>
            </a:r>
            <a:r>
              <a:rPr sz="1200" b="0">
                <a:solidFill>
                  <a:srgbClr val="1A1A2E"/>
                </a:solidFill>
                <a:latin typeface="Calibri"/>
              </a:rPr>
              <a:t>  Digital health resilience, medical device security, ransomware recovery, regulatory compliance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008A5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Government &amp; Defence:</a:t>
            </a:r>
            <a:r>
              <a:rPr sz="1200" b="0">
                <a:solidFill>
                  <a:srgbClr val="1A1A2E"/>
                </a:solidFill>
                <a:latin typeface="Calibri"/>
              </a:rPr>
              <a:t>  Federal continuity programs, CISA coordination, critical infrastructure protection planning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000">
                <a:solidFill>
                  <a:srgbClr val="008A5E"/>
                </a:solidFill>
                <a:latin typeface="Calibri"/>
              </a:rPr>
              <a:t>●  </a:t>
            </a:r>
            <a:r>
              <a:rPr sz="1200" b="1">
                <a:solidFill>
                  <a:srgbClr val="1A1A2E"/>
                </a:solidFill>
                <a:latin typeface="Calibri"/>
              </a:rPr>
              <a:t>Transport &amp; Supply Chain:</a:t>
            </a:r>
            <a:r>
              <a:rPr sz="1200" b="0">
                <a:solidFill>
                  <a:srgbClr val="1A1A2E"/>
                </a:solidFill>
                <a:latin typeface="Calibri"/>
              </a:rPr>
              <a:t>  Growing at 4.7% CAGR to 2031; logistics resilience, port/aviation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" y="6217920"/>
            <a:ext cx="12081967" cy="6400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291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VERDICT:  Strong and growing market. Regulatory deadlines in 2025–2026 are creating immediate, sustained demand for resilience consulting services across industries.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RESILIENCE TRENDS  |  Dec 2025 – Feb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8FD6"/>
                </a:solidFill>
                <a:latin typeface="Calibri"/>
              </a:rPr>
              <a:t>What’s happening in hiring, regulation, thought leadership, and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61188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11880" cy="54864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5E9E"/>
                </a:solidFill>
                <a:latin typeface="Calibri"/>
              </a:rPr>
              <a:t>REGULATORY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1B5E9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DORA:</a:t>
            </a:r>
            <a:r>
              <a:rPr sz="1100" b="0">
                <a:solidFill>
                  <a:srgbClr val="1A1A2E"/>
                </a:solidFill>
                <a:latin typeface="Calibri"/>
              </a:rPr>
              <a:t>  Fully in force since Jan 2025; Register of Information submitted Apr 2025; critical ICT vendor assessments in progress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1B5E9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NIS2:</a:t>
            </a:r>
            <a:r>
              <a:rPr sz="1100" b="0">
                <a:solidFill>
                  <a:srgbClr val="1A1A2E"/>
                </a:solidFill>
                <a:latin typeface="Calibri"/>
              </a:rPr>
              <a:t>  14 of 27 EU states transposed; compliance deadline Oct 2026; Germany, Portugal, Austria recently adopted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1B5E9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CER:</a:t>
            </a:r>
            <a:r>
              <a:rPr sz="1100" b="0">
                <a:solidFill>
                  <a:srgbClr val="1A1A2E"/>
                </a:solidFill>
                <a:latin typeface="Calibri"/>
              </a:rPr>
              <a:t>  Member states must identify critical entities by Jul 2026; covers 11 key sectors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1B5E9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UK:</a:t>
            </a:r>
            <a:r>
              <a:rPr sz="1100" b="0">
                <a:solidFill>
                  <a:srgbClr val="1A1A2E"/>
                </a:solidFill>
                <a:latin typeface="Calibri"/>
              </a:rPr>
              <a:t>  New Cyber Security &amp; Resilience Bill aligning with EU standards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361188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36118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THREAT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73352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State-backed threats:</a:t>
            </a:r>
            <a:r>
              <a:rPr sz="1100" b="0">
                <a:solidFill>
                  <a:srgbClr val="1A1A2E"/>
                </a:solidFill>
                <a:latin typeface="Calibri"/>
              </a:rPr>
              <a:t>  PRC pre-positioning across US critical infrastructure (CISA priority)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Ransomware:</a:t>
            </a:r>
            <a:r>
              <a:rPr sz="1100" b="0">
                <a:solidFill>
                  <a:srgbClr val="1A1A2E"/>
                </a:solidFill>
                <a:latin typeface="Calibri"/>
              </a:rPr>
              <a:t>  Breakout times under 60 minutes; credential abuse now surpasses malware as primary vector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AI-powered attacks:</a:t>
            </a:r>
            <a:r>
              <a:rPr sz="1100" b="0">
                <a:solidFill>
                  <a:srgbClr val="1A1A2E"/>
                </a:solidFill>
                <a:latin typeface="Calibri"/>
              </a:rPr>
              <a:t>  Threat actors using LLMs for phishing, recon, malware dev; AI supply chain attacks emerging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C0392B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Incidents:</a:t>
            </a:r>
            <a:r>
              <a:rPr sz="1100" b="0">
                <a:solidFill>
                  <a:srgbClr val="1A1A2E"/>
                </a:solidFill>
                <a:latin typeface="Calibri"/>
              </a:rPr>
              <a:t>  JLR and M&amp;S disruptions underscored supply chain fragility; food/ag sector targeted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234440"/>
            <a:ext cx="361188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234440"/>
            <a:ext cx="3611880" cy="54864"/>
          </a:xfrm>
          <a:prstGeom prst="rect">
            <a:avLst/>
          </a:prstGeom>
          <a:solidFill>
            <a:srgbClr val="00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8A5E"/>
                </a:solidFill>
                <a:latin typeface="Calibri"/>
              </a:rPr>
              <a:t>HIRING &amp; WORKFORCE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673352"/>
            <a:ext cx="3337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008A5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39%</a:t>
            </a:r>
            <a:r>
              <a:rPr sz="1100" b="0">
                <a:solidFill>
                  <a:srgbClr val="1A1A2E"/>
                </a:solidFill>
                <a:latin typeface="Calibri"/>
              </a:rPr>
              <a:t> of organisations hiring more digital trust roles in 2026 vs 2025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008A5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Nearly 50%</a:t>
            </a:r>
            <a:r>
              <a:rPr sz="1100" b="0">
                <a:solidFill>
                  <a:srgbClr val="1A1A2E"/>
                </a:solidFill>
                <a:latin typeface="Calibri"/>
              </a:rPr>
              <a:t> expect difficulty finding qualified candidates in audit, risk, and cybersecurity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008A5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Skills &gt; headcount:</a:t>
            </a:r>
            <a:r>
              <a:rPr sz="1100" b="0">
                <a:solidFill>
                  <a:srgbClr val="1A1A2E"/>
                </a:solidFill>
                <a:latin typeface="Calibri"/>
              </a:rPr>
              <a:t>  Organisations prioritising skill-based hiring and upskilling over expanding teams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008A5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Key gaps:</a:t>
            </a:r>
            <a:r>
              <a:rPr sz="1100" b="0">
                <a:solidFill>
                  <a:srgbClr val="1A1A2E"/>
                </a:solidFill>
                <a:latin typeface="Calibri"/>
              </a:rPr>
              <a:t>  Data security, emerging tech risk, AI governance, OT security specialists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3611880" cy="54864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245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D3C98"/>
                </a:solidFill>
                <a:latin typeface="Calibri"/>
              </a:rPr>
              <a:t>TECHNOLOGY SHIFTS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53712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7D3C98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AI-powered resilience:</a:t>
            </a:r>
            <a:r>
              <a:rPr sz="1100" b="0">
                <a:solidFill>
                  <a:srgbClr val="1A1A2E"/>
                </a:solidFill>
                <a:latin typeface="Calibri"/>
              </a:rPr>
              <a:t>  Real-time risk monitoring, predictive infrastructure planning, automated incident response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7D3C98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Zero Trust:</a:t>
            </a:r>
            <a:r>
              <a:rPr sz="1100" b="0">
                <a:solidFill>
                  <a:srgbClr val="1A1A2E"/>
                </a:solidFill>
                <a:latin typeface="Calibri"/>
              </a:rPr>
              <a:t>  Embedded directly into infrastructure management; no longer a separate security layer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7D3C98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Multi-cloud resilience:</a:t>
            </a:r>
            <a:r>
              <a:rPr sz="1100" b="0">
                <a:solidFill>
                  <a:srgbClr val="1A1A2E"/>
                </a:solidFill>
                <a:latin typeface="Calibri"/>
              </a:rPr>
              <a:t>  Enterprises re-architecting for multi-region failover and uptime SLAs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11480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4114800"/>
            <a:ext cx="361188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2245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THOUGHT LEADERSHIP &amp; WHITEPAPERS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53712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E86C00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ISACA:</a:t>
            </a:r>
            <a:r>
              <a:rPr sz="1100" b="0">
                <a:solidFill>
                  <a:srgbClr val="1A1A2E"/>
                </a:solidFill>
                <a:latin typeface="Calibri"/>
              </a:rPr>
              <a:t>  "Resilience and Security in Critical Sectors: Navigating NIS2 &amp; DORA" (2025)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E86C00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CISA:</a:t>
            </a:r>
            <a:r>
              <a:rPr sz="1100" b="0">
                <a:solidFill>
                  <a:srgbClr val="1A1A2E"/>
                </a:solidFill>
                <a:latin typeface="Calibri"/>
              </a:rPr>
              <a:t>  Infrastructure Resilience Planning Framework updated Jan 2025; 2025 Year in Review (Feb 2026)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E86C00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Food &amp; Ag-ISAC:</a:t>
            </a:r>
            <a:r>
              <a:rPr sz="1100" b="0">
                <a:solidFill>
                  <a:srgbClr val="1A1A2E"/>
                </a:solidFill>
                <a:latin typeface="Calibri"/>
              </a:rPr>
              <a:t>  "Farm-to-Table Ransomware Realities – 2025 Threat Trends &amp; 2026 Outlook"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11480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4114800"/>
            <a:ext cx="3611880" cy="54864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2245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5E9E"/>
                </a:solidFill>
                <a:latin typeface="Calibri"/>
              </a:rPr>
              <a:t>MARKET SIGNALS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553712"/>
            <a:ext cx="3337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1B5E9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CISA:</a:t>
            </a:r>
            <a:r>
              <a:rPr sz="1100" b="0">
                <a:solidFill>
                  <a:srgbClr val="1A1A2E"/>
                </a:solidFill>
                <a:latin typeface="Calibri"/>
              </a:rPr>
              <a:t>  Stopped 2.62B malicious connections on federal networks in 2025; 148 resilience exercises with 10K+ participants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1B5E9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CIPRNA Expo 2026:</a:t>
            </a:r>
            <a:r>
              <a:rPr sz="1100" b="0">
                <a:solidFill>
                  <a:srgbClr val="1A1A2E"/>
                </a:solidFill>
                <a:latin typeface="Calibri"/>
              </a:rPr>
              <a:t>  Dedicated critical infrastructure resilience conference (Mar 2026, Baton Rouge)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900">
                <a:solidFill>
                  <a:srgbClr val="1B5E9E"/>
                </a:solidFill>
                <a:latin typeface="Calibri"/>
              </a:rPr>
              <a:t>●  </a:t>
            </a:r>
            <a:r>
              <a:rPr sz="1100" b="1">
                <a:solidFill>
                  <a:srgbClr val="1A1A2E"/>
                </a:solidFill>
                <a:latin typeface="Calibri"/>
              </a:rPr>
              <a:t>Consulting demand:</a:t>
            </a:r>
            <a:r>
              <a:rPr sz="1100" b="0">
                <a:solidFill>
                  <a:srgbClr val="1A1A2E"/>
                </a:solidFill>
                <a:latin typeface="Calibri"/>
              </a:rPr>
              <a:t>  Resilience advisory dominates alongside AI adoption as top growth area for 2025–2026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" y="6446520"/>
            <a:ext cx="12081967" cy="4114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B8D"/>
                </a:solidFill>
                <a:latin typeface="Calibri"/>
              </a:rPr>
              <a:t>Sources: CISA, ISACA, Security Magazine, ISC2, Eye Security, Nextgov/FCW, ClearRisk, Hitachi Cyber, Industrial Cyber (Dec 2025 – Feb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81967" cy="10058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COMPETITIVE LANDSCAPE: MAJOR CONSULTING FIRMS &amp;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A8FD6"/>
                </a:solidFill>
                <a:latin typeface="Calibri"/>
              </a:rPr>
              <a:t>How EY, Deloitte, PwC, McKinsey, BCG, and Kearney are positioning in the resilience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11880" cy="54864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BC25"/>
                </a:solidFill>
                <a:latin typeface="Calibri"/>
              </a:rPr>
              <a:t>DELOITTE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86BC25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Most extensive</a:t>
            </a:r>
            <a:r>
              <a:rPr sz="1050" b="0">
                <a:solidFill>
                  <a:srgbClr val="1A1A2E"/>
                </a:solidFill>
                <a:latin typeface="Calibri"/>
              </a:rPr>
              <a:t> public-facing resilience practice among major firms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86BC25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Primary consulting provider</a:t>
            </a:r>
            <a:r>
              <a:rPr sz="1050" b="0">
                <a:solidFill>
                  <a:srgbClr val="1A1A2E"/>
                </a:solidFill>
                <a:latin typeface="Calibri"/>
              </a:rPr>
              <a:t> for FEMA’s National Continuity Program; shaped Federal Continuity Directives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86BC25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Dedicated offerings:</a:t>
            </a:r>
            <a:r>
              <a:rPr sz="1050" b="0">
                <a:solidFill>
                  <a:srgbClr val="1A1A2E"/>
                </a:solidFill>
                <a:latin typeface="Calibri"/>
              </a:rPr>
              <a:t> OT Resilience, Cyber Resilience, End-to-End Business Resilience, Third-Party Resilience, Crisis &amp; Resilience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86BC25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Industry focus:</a:t>
            </a:r>
            <a:r>
              <a:rPr sz="1050" b="0">
                <a:solidFill>
                  <a:srgbClr val="1A1A2E"/>
                </a:solidFill>
                <a:latin typeface="Calibri"/>
              </a:rPr>
              <a:t> Financial Services, Government/Defence, Healthcare, Energy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86BC25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2026:</a:t>
            </a:r>
            <a:r>
              <a:rPr sz="1050" b="0">
                <a:solidFill>
                  <a:srgbClr val="1A1A2E"/>
                </a:solidFill>
                <a:latin typeface="Calibri"/>
              </a:rPr>
              <a:t> Presenting at CIPRNA Expo on AI agents and predictive infrastructure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3611880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E600"/>
                </a:solidFill>
                <a:latin typeface="Calibri"/>
              </a:rPr>
              <a:t>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7335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FFE6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25,000 risk professionals</a:t>
            </a:r>
            <a:r>
              <a:rPr sz="1050" b="0">
                <a:solidFill>
                  <a:srgbClr val="1A1A2E"/>
                </a:solidFill>
                <a:latin typeface="Calibri"/>
              </a:rPr>
              <a:t> globally across integrated risk, cyber, forensics, compliance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FFE6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Operational Resilience platform</a:t>
            </a:r>
            <a:r>
              <a:rPr sz="1050" b="0">
                <a:solidFill>
                  <a:srgbClr val="1A1A2E"/>
                </a:solidFill>
                <a:latin typeface="Calibri"/>
              </a:rPr>
              <a:t> (powered by ServiceNow): real-time early warning, automated prevention/recovery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FFE6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Enterprise Resilience Solution:</a:t>
            </a:r>
            <a:r>
              <a:rPr sz="1050" b="0">
                <a:solidFill>
                  <a:srgbClr val="1A1A2E"/>
                </a:solidFill>
                <a:latin typeface="Calibri"/>
              </a:rPr>
              <a:t> holistic approach to reducing risk and driving long-term value through disruption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FFE6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Industry focus:</a:t>
            </a:r>
            <a:r>
              <a:rPr sz="1050" b="0">
                <a:solidFill>
                  <a:srgbClr val="1A1A2E"/>
                </a:solidFill>
                <a:latin typeface="Calibri"/>
              </a:rPr>
              <a:t> Financial Services (regulatory-driven), India risk landscape (FICCI-EY 2026)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FFE6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Emphasis on:</a:t>
            </a:r>
            <a:r>
              <a:rPr sz="1050" b="0">
                <a:solidFill>
                  <a:srgbClr val="1A1A2E"/>
                </a:solidFill>
                <a:latin typeface="Calibri"/>
              </a:rPr>
              <a:t> Regulatory compliance, financial crime, operational resilience, AI-related risks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23444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234440"/>
            <a:ext cx="3611880" cy="54864"/>
          </a:xfrm>
          <a:prstGeom prst="rect">
            <a:avLst/>
          </a:prstGeom>
          <a:solidFill>
            <a:srgbClr val="D93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34416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3F0B"/>
                </a:solidFill>
                <a:latin typeface="Calibri"/>
              </a:rPr>
              <a:t>PwC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67335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D93F0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"Resilience by Design"</a:t>
            </a:r>
            <a:r>
              <a:rPr sz="1050" b="0">
                <a:solidFill>
                  <a:srgbClr val="1A1A2E"/>
                </a:solidFill>
                <a:latin typeface="Calibri"/>
              </a:rPr>
              <a:t> philosophy — shifting from traditional DR/BC to embedded resilience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D93F0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Cross-industry view:</a:t>
            </a:r>
            <a:r>
              <a:rPr sz="1050" b="0">
                <a:solidFill>
                  <a:srgbClr val="1A1A2E"/>
                </a:solidFill>
                <a:latin typeface="Calibri"/>
              </a:rPr>
              <a:t> tailored perspectives for FS, Retail, Healthcare, Tech/Media/Telecom, Manufacturing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D93F0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Global Centre for Crisis &amp; Resilience</a:t>
            </a:r>
            <a:r>
              <a:rPr sz="1050" b="0">
                <a:solidFill>
                  <a:srgbClr val="1A1A2E"/>
                </a:solidFill>
                <a:latin typeface="Calibri"/>
              </a:rPr>
              <a:t> (GCCR) applying Enterprise Resilience Framework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D93F0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Restructured into 8 advisory platforms</a:t>
            </a:r>
            <a:r>
              <a:rPr sz="1050" b="0">
                <a:solidFill>
                  <a:srgbClr val="1A1A2E"/>
                </a:solidFill>
                <a:latin typeface="Calibri"/>
              </a:rPr>
              <a:t> (Jul 2025) inc. Cyber Data &amp; Tech Risk; Risk &amp; Regulatory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D93F0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Technology &amp; Operational Resilience</a:t>
            </a:r>
            <a:r>
              <a:rPr sz="1050" b="0">
                <a:solidFill>
                  <a:srgbClr val="1A1A2E"/>
                </a:solidFill>
                <a:latin typeface="Calibri"/>
              </a:rPr>
              <a:t> practice covers cyber, third-party risk, regulatory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3611880" cy="54864"/>
          </a:xfrm>
          <a:prstGeom prst="rect">
            <a:avLst/>
          </a:prstGeom>
          <a:solidFill>
            <a:srgbClr val="0051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04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519E"/>
                </a:solidFill>
                <a:latin typeface="Calibri"/>
              </a:rPr>
              <a:t>McKINSEY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3367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00519E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Global Infrastructure Initiative (GII):</a:t>
            </a:r>
            <a:r>
              <a:rPr sz="1050" b="0">
                <a:solidFill>
                  <a:srgbClr val="1A1A2E"/>
                </a:solidFill>
                <a:latin typeface="Calibri"/>
              </a:rPr>
              <a:t> senior leader community focused on smart, resilient infrastructure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00519E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Strategy-level focus:</a:t>
            </a:r>
            <a:r>
              <a:rPr sz="1050" b="0">
                <a:solidFill>
                  <a:srgbClr val="1A1A2E"/>
                </a:solidFill>
                <a:latin typeface="Calibri"/>
              </a:rPr>
              <a:t> infrastructure investment resilience, energy transition, grid hardening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00519E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Research insight:</a:t>
            </a:r>
            <a:r>
              <a:rPr sz="1050" b="0">
                <a:solidFill>
                  <a:srgbClr val="1A1A2E"/>
                </a:solidFill>
                <a:latin typeface="Calibri"/>
              </a:rPr>
              <a:t> nimble networks of smaller units are more resilient than legacy infrastructure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00519E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Industry focus:</a:t>
            </a:r>
            <a:r>
              <a:rPr sz="1050" b="0">
                <a:solidFill>
                  <a:srgbClr val="1A1A2E"/>
                </a:solidFill>
                <a:latin typeface="Calibri"/>
              </a:rPr>
              <a:t> Energy/Utilities, Transport, Public Sector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00519E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15,000+ digital engagements;</a:t>
            </a:r>
            <a:r>
              <a:rPr sz="1050" b="0">
                <a:solidFill>
                  <a:srgbClr val="1A1A2E"/>
                </a:solidFill>
                <a:latin typeface="Calibri"/>
              </a:rPr>
              <a:t> 40% YoY growth in sustainability projects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79476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94760"/>
            <a:ext cx="3611880" cy="54864"/>
          </a:xfrm>
          <a:prstGeom prst="rect">
            <a:avLst/>
          </a:prstGeom>
          <a:solidFill>
            <a:srgbClr val="2B8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904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B8C2B"/>
                </a:solidFill>
                <a:latin typeface="Calibri"/>
              </a:rPr>
              <a:t>BCG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3367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2B8C2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Operational Risk &amp; Resilience</a:t>
            </a:r>
            <a:r>
              <a:rPr sz="1050" b="0">
                <a:solidFill>
                  <a:srgbClr val="1A1A2E"/>
                </a:solidFill>
                <a:latin typeface="Calibri"/>
              </a:rPr>
              <a:t> dedicated practice under Risk Management &amp; Compliance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2B8C2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Key research:</a:t>
            </a:r>
            <a:r>
              <a:rPr sz="1050" b="0">
                <a:solidFill>
                  <a:srgbClr val="1A1A2E"/>
                </a:solidFill>
                <a:latin typeface="Calibri"/>
              </a:rPr>
              <a:t> resilient companies achieve 3–5% higher annual revenue growth vs peers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2B8C2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Focus areas:</a:t>
            </a:r>
            <a:r>
              <a:rPr sz="1050" b="0">
                <a:solidFill>
                  <a:srgbClr val="1A1A2E"/>
                </a:solidFill>
                <a:latin typeface="Calibri"/>
              </a:rPr>
              <a:t> digital transformation, cybersecurity, large-scale transformation, data analytics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2B8C2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Industry coverage:</a:t>
            </a:r>
            <a:r>
              <a:rPr sz="1050" b="0">
                <a:solidFill>
                  <a:srgbClr val="1A1A2E"/>
                </a:solidFill>
                <a:latin typeface="Calibri"/>
              </a:rPr>
              <a:t> Healthcare, Industrial Goods, Consumer Products, Energy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2B8C2B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Strategic positioning:</a:t>
            </a:r>
            <a:r>
              <a:rPr sz="1050" b="0">
                <a:solidFill>
                  <a:srgbClr val="1A1A2E"/>
                </a:solidFill>
                <a:latin typeface="Calibri"/>
              </a:rPr>
              <a:t> resilience as a competitive advantage, not just risk mitigation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794760"/>
            <a:ext cx="361188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794760"/>
            <a:ext cx="3611880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9044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86C00"/>
                </a:solidFill>
                <a:latin typeface="Calibri"/>
              </a:rPr>
              <a:t>KEARNEY + YOUR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233672"/>
            <a:ext cx="3337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E86C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Kearney:</a:t>
            </a:r>
            <a:r>
              <a:rPr sz="1050" b="0">
                <a:solidFill>
                  <a:srgbClr val="1A1A2E"/>
                </a:solidFill>
                <a:latin typeface="Calibri"/>
              </a:rPr>
              <a:t> global firm with European roots; automotive, healthcare, energy, public sector, transportation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E86C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Kearney gap:</a:t>
            </a:r>
            <a:r>
              <a:rPr sz="1050" b="0">
                <a:solidFill>
                  <a:srgbClr val="1A1A2E"/>
                </a:solidFill>
                <a:latin typeface="Calibri"/>
              </a:rPr>
              <a:t> no prominently branded standalone resilience practice or published resilience framework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E86C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Market white space:</a:t>
            </a:r>
            <a:r>
              <a:rPr sz="1050" b="0">
                <a:solidFill>
                  <a:srgbClr val="1A1A2E"/>
                </a:solidFill>
                <a:latin typeface="Calibri"/>
              </a:rPr>
              <a:t> industry-specific resilience services remain fragmented across firms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E86C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Opportunity:</a:t>
            </a:r>
            <a:r>
              <a:rPr sz="1050" b="0">
                <a:solidFill>
                  <a:srgbClr val="1A1A2E"/>
                </a:solidFill>
                <a:latin typeface="Calibri"/>
              </a:rPr>
              <a:t> niche/boutique firms can compete on speed, specialisation, and regulatory depth (esp. DORA/NIS2/CER)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850">
                <a:solidFill>
                  <a:srgbClr val="E86C00"/>
                </a:solidFill>
                <a:latin typeface="Calibri"/>
              </a:rPr>
              <a:t>●  </a:t>
            </a:r>
            <a:r>
              <a:rPr sz="1050" b="1">
                <a:solidFill>
                  <a:srgbClr val="1A1A2E"/>
                </a:solidFill>
                <a:latin typeface="Calibri"/>
              </a:rPr>
              <a:t>Differentiator:</a:t>
            </a:r>
            <a:r>
              <a:rPr sz="1050" b="0">
                <a:solidFill>
                  <a:srgbClr val="1A1A2E"/>
                </a:solidFill>
                <a:latin typeface="Calibri"/>
              </a:rPr>
              <a:t> end-to-end resilience across cyber + physical + operational domains for mid-market clients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" y="6355080"/>
            <a:ext cx="12081967" cy="5029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38251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OPPORTUNITY:  Big firms dominate large enterprise. Mid-market and industry-specific resilience consulting (esp. EU regulatory compliance) remains underserved — a clear opening for specialist consultancies.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